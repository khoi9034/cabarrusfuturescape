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Question and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Main message: Identify whether a large Cabarrus County development-land candidate should advance from screening into acquisition pricing.</a:t>
            </a:r>
          </a:p>
          <a:p>
            <a:pPr>
              <a:spcAft>
                <a:spcPts val="1200"/>
              </a:spcAft>
              <a:defRPr sz="1600"/>
            </a:pPr>
            <a:r>
              <a:t>Key evidence: 100-acre minimum; residential finished-lot strategy; utility-proxy preference; manageable mapped constraints.</a:t>
            </a:r>
          </a:p>
          <a:p>
            <a:pPr>
              <a:spcAft>
                <a:spcPts val="1200"/>
              </a:spcAft>
              <a:defRPr sz="1600"/>
            </a:pPr>
            <a:r>
              <a:t>Suggested visual: Strategy and decision-gate card.</a:t>
            </a:r>
          </a:p>
          <a:p>
            <a:pPr>
              <a:spcAft>
                <a:spcPts val="1200"/>
              </a:spcAft>
              <a:defRPr sz="1600"/>
            </a:pPr>
            <a:r>
              <a:t>Speaker notes: This is a screening case study, not a purchase recommendation.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and Study-Area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Main message: Cabarrus County has enough growth context to justify screening, but public market evidence does not prove parcel-level financial feasibility.</a:t>
            </a:r>
          </a:p>
          <a:p>
            <a:pPr>
              <a:spcAft>
                <a:spcPts val="1200"/>
              </a:spcAft>
              <a:defRPr sz="1600"/>
            </a:pPr>
            <a:r>
              <a:t>Key evidence: Charlotte/Cabarrus home-price context, ACS context, development momentum, public planning references.</a:t>
            </a:r>
          </a:p>
          <a:p>
            <a:pPr>
              <a:spcAft>
                <a:spcPts val="1200"/>
              </a:spcAft>
              <a:defRPr sz="1600"/>
            </a:pPr>
            <a:r>
              <a:t>Suggested visual: Study-area context with benchmark callouts.</a:t>
            </a:r>
          </a:p>
          <a:p>
            <a:pPr>
              <a:spcAft>
                <a:spcPts val="1200"/>
              </a:spcAft>
              <a:defRPr sz="1600"/>
            </a:pPr>
            <a:r>
              <a:t>Speaker notes: Finished-home prices are indirect benchmarks, not finished-lot comps.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Screening Criteria and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Main message: The 100-point analyst screen translates the acquisition strategy into repeatable parcel review.</a:t>
            </a:r>
          </a:p>
          <a:p>
            <a:pPr>
              <a:spcAft>
                <a:spcPts val="1200"/>
              </a:spcAft>
              <a:defRPr sz="1600"/>
            </a:pPr>
            <a:r>
              <a:t>Key evidence: Planning 20, market 20, transportation 15, utility proxy 15, environmental 15, site fit 10, evidence confidence 5.</a:t>
            </a:r>
          </a:p>
          <a:p>
            <a:pPr>
              <a:spcAft>
                <a:spcPts val="1200"/>
              </a:spcAft>
              <a:defRPr sz="1600"/>
            </a:pPr>
            <a:r>
              <a:t>Suggested visual: Score rubric.</a:t>
            </a:r>
          </a:p>
          <a:p>
            <a:pPr>
              <a:spcAft>
                <a:spcPts val="1200"/>
              </a:spcAft>
              <a:defRPr sz="1600"/>
            </a:pPr>
            <a:r>
              <a:t>Speaker notes: The score is not a probability, appraisal, or purchase instruction.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Countywide Candidate Funnel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Main message: The funnel narrowed 110,017 parcel records to 3 comparison candidates.</a:t>
            </a:r>
          </a:p>
          <a:p>
            <a:pPr>
              <a:spcAft>
                <a:spcPts val="1200"/>
              </a:spcAft>
              <a:defRPr sz="1600"/>
            </a:pPr>
            <a:r>
              <a:t>Key evidence: 241 acreage-qualified and evidence-ready parcels; 62 initial-screen pass; 10 manual review; 3 final shortlist.</a:t>
            </a:r>
          </a:p>
          <a:p>
            <a:pPr>
              <a:spcAft>
                <a:spcPts val="1200"/>
              </a:spcAft>
              <a:defRPr sz="1600"/>
            </a:pPr>
            <a:r>
              <a:t>Suggested visual: Funnel chart.</a:t>
            </a:r>
          </a:p>
          <a:p>
            <a:pPr>
              <a:spcAft>
                <a:spcPts val="1200"/>
              </a:spcAft>
              <a:defRPr sz="1600"/>
            </a:pPr>
            <a:r>
              <a:t>Speaker notes: The shortlist is preserved. No score changes are proposed.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Three-Property Comparison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Main message: The priority candidate has the best physical/planning screen, while the secondary and deferred candidates show why acreage alone is insufficient.</a:t>
            </a:r>
          </a:p>
          <a:p>
            <a:pPr>
              <a:spcAft>
                <a:spcPts val="1200"/>
              </a:spcAft>
              <a:defRPr sz="1600"/>
            </a:pPr>
            <a:r>
              <a:t>Key evidence: Scores: 89, 77, and 36. Decisions: targeted diligence, secondary review, defer.</a:t>
            </a:r>
          </a:p>
          <a:p>
            <a:pPr>
              <a:spcAft>
                <a:spcPts val="1200"/>
              </a:spcAft>
              <a:defRPr sz="1600"/>
            </a:pPr>
            <a:r>
              <a:t>Suggested visual: Candidate comparison table.</a:t>
            </a:r>
          </a:p>
          <a:p>
            <a:pPr>
              <a:spcAft>
                <a:spcPts val="1200"/>
              </a:spcAft>
              <a:defRPr sz="1600"/>
            </a:pPr>
            <a:r>
              <a:t>Speaker notes: Secondary and deferred candidates are not financially underwritten.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Priority-Property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Main message: CFS-PARCEL-0149758869 is the strongest site-screening candidate but still has major verification gaps.</a:t>
            </a:r>
          </a:p>
          <a:p>
            <a:pPr>
              <a:spcAft>
                <a:spcPts val="1200"/>
              </a:spcAft>
              <a:defRPr sz="1600"/>
            </a:pPr>
            <a:r>
              <a:t>Key evidence: 489.43 gross acres; 392.11 preliminary developable acres; adjacent sewer-proximity proxy; moderate mapped constraints.</a:t>
            </a:r>
          </a:p>
          <a:p>
            <a:pPr>
              <a:spcAft>
                <a:spcPts val="1200"/>
              </a:spcAft>
              <a:defRPr sz="1600"/>
            </a:pPr>
            <a:r>
              <a:t>Suggested visual: Evidence matrix and developable-area bridge.</a:t>
            </a:r>
          </a:p>
          <a:p>
            <a:pPr>
              <a:spcAft>
                <a:spcPts val="1200"/>
              </a:spcAft>
              <a:defRPr sz="1600"/>
            </a:pPr>
            <a:r>
              <a:t>Speaker notes: Utility proximity is not service availability or capacity.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Underwriting and Sensitivity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Main message: The site screened strongly but does not currently support a positive land basis.</a:t>
            </a:r>
          </a:p>
          <a:p>
            <a:pPr>
              <a:spcAft>
                <a:spcPts val="1200"/>
              </a:spcAft>
              <a:defRPr sz="1600"/>
            </a:pPr>
            <a:r>
              <a:t>Key evidence: Downside -$110.20M, base -$64.34M, upside -$14.25M after selling/carry.</a:t>
            </a:r>
          </a:p>
          <a:p>
            <a:pPr>
              <a:spcAft>
                <a:spcPts val="1200"/>
              </a:spcAft>
              <a:defRPr sz="1600"/>
            </a:pPr>
            <a:r>
              <a:t>Suggested visual: Scenario comparison and sensitivity table.</a:t>
            </a:r>
          </a:p>
          <a:p>
            <a:pPr>
              <a:spcAft>
                <a:spcPts val="1200"/>
              </a:spcAft>
              <a:defRPr sz="1600"/>
            </a:pPr>
            <a:r>
              <a:t>Speaker notes: No assumptions are increased to force viability.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 and Due-Diligence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43000"/>
            <a:ext cx="804672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200"/>
              </a:spcAft>
              <a:defRPr sz="2000"/>
            </a:pPr>
            <a:r>
              <a:t>Main message: Targeted diligence only; do not advance to acquisition pricing yet.</a:t>
            </a:r>
          </a:p>
          <a:p>
            <a:pPr>
              <a:spcAft>
                <a:spcPts val="1200"/>
              </a:spcAft>
              <a:defRPr sz="1600"/>
            </a:pPr>
            <a:r>
              <a:t>Key evidence: Needs finished-lot comps, civil cost, utility capacity, off-site scope, entitlement density, legal access, title/easements.</a:t>
            </a:r>
          </a:p>
          <a:p>
            <a:pPr>
              <a:spcAft>
                <a:spcPts val="1200"/>
              </a:spcAft>
              <a:defRPr sz="1600"/>
            </a:pPr>
            <a:r>
              <a:t>Suggested visual: Decision matrix and diligence checklist.</a:t>
            </a:r>
          </a:p>
          <a:p>
            <a:pPr>
              <a:spcAft>
                <a:spcPts val="1200"/>
              </a:spcAft>
              <a:defRPr sz="1600"/>
            </a:pPr>
            <a:r>
              <a:t>Speaker notes: Screening priority does not equal financial feasibility.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